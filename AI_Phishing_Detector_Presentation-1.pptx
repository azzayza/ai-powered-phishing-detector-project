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876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1645920" cy="1645920"/>
          </a:xfrm>
          <a:prstGeom prst="rect">
            <a:avLst/>
          </a:prstGeom>
          <a:solidFill>
            <a:srgbClr val="1E3A5F">
              <a:alpha val="20000"/>
            </a:srgbClr>
          </a:solidFill>
          <a:ln w="635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Jasser Sghaier</a:t>
            </a:r>
          </a:p>
          <a:p>
            <a:r>
              <a:rPr lang="fr-FR" dirty="0">
                <a:solidFill>
                  <a:schemeClr val="bg1"/>
                </a:solidFill>
              </a:rPr>
              <a:t>BA/IT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828800" y="3840480"/>
            <a:ext cx="1645920" cy="1645920"/>
          </a:xfrm>
          <a:prstGeom prst="rect">
            <a:avLst/>
          </a:prstGeom>
          <a:solidFill>
            <a:srgbClr val="1E3A5F">
              <a:alpha val="20000"/>
            </a:srgbClr>
          </a:solidFill>
          <a:ln w="635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Rayen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Ghourabi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BA/IT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0" y="3840480"/>
            <a:ext cx="1645920" cy="1645920"/>
          </a:xfrm>
          <a:prstGeom prst="rect">
            <a:avLst/>
          </a:prstGeom>
          <a:solidFill>
            <a:srgbClr val="1E3A5F">
              <a:alpha val="20000"/>
            </a:srgbClr>
          </a:solidFill>
          <a:ln w="635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Mohamed Amine </a:t>
            </a:r>
            <a:r>
              <a:rPr lang="fr-FR" dirty="0" err="1">
                <a:solidFill>
                  <a:schemeClr val="bg1"/>
                </a:solidFill>
              </a:rPr>
              <a:t>Jamli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IT/BA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0" y="3840480"/>
            <a:ext cx="1645920" cy="1645920"/>
          </a:xfrm>
          <a:prstGeom prst="rect">
            <a:avLst/>
          </a:prstGeom>
          <a:solidFill>
            <a:srgbClr val="1E3A5F">
              <a:alpha val="20000"/>
            </a:srgbClr>
          </a:solidFill>
          <a:ln w="635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Aziz Nasri</a:t>
            </a:r>
          </a:p>
          <a:p>
            <a:r>
              <a:rPr lang="fr-FR" dirty="0">
                <a:solidFill>
                  <a:schemeClr val="bg1"/>
                </a:solidFill>
              </a:rPr>
              <a:t>IT/BA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0" y="3840480"/>
            <a:ext cx="1645920" cy="1645920"/>
          </a:xfrm>
          <a:prstGeom prst="rect">
            <a:avLst/>
          </a:prstGeom>
          <a:solidFill>
            <a:srgbClr val="1E3A5F">
              <a:alpha val="20000"/>
            </a:srgbClr>
          </a:solidFill>
          <a:ln w="635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Mohamed Karim </a:t>
            </a:r>
            <a:r>
              <a:rPr lang="fr-FR" dirty="0" err="1">
                <a:solidFill>
                  <a:schemeClr val="bg1"/>
                </a:solidFill>
              </a:rPr>
              <a:t>Nsaibi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BA/IT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68580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Phishing Detector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13 — Cybersecurity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Concepts  ·  High-Level Design  ·  Code Walkthrough  ·  Conclusion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 |  ~15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Concepts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ML detection, NLP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Presenter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070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359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Presenter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272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3950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deep-dive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Presenters 3 &amp;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272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950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future work &amp; Q&amp;A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Presenter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Concepts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 threats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AI-based detection approaches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8229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attackers impersonate trusted organizations via fake emails to steal credentials, financial data, or personal information.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6002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600200"/>
            <a:ext cx="20116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Sender Address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2039112"/>
            <a:ext cx="17922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domains that mimic legitimate organizations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23160" y="16002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6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23160" y="1600200"/>
            <a:ext cx="201168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32888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Language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32888" y="2039112"/>
            <a:ext cx="17922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"Verify now", "Immediate action required", "Account suspended"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6002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600200"/>
            <a:ext cx="20116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1728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Links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81728" y="2039112"/>
            <a:ext cx="17922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that redirect to credential-harvesting pages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20840" y="16002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6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20840" y="1600200"/>
            <a:ext cx="201168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0568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Requests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30568" y="2039112"/>
            <a:ext cx="17922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passwords, payment info, or personal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Threat: Why Detection is Harder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6868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(Traditional Phishing)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grammar &amp; spelling
• Generic templates
• Obvious suspicious links
• Easy to spot manually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(AI-Generated Phishing)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32588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Perfect grammar &amp; formatting
• Personalized content (spear phishing)
• Uses ChatGPT/LLMs for generation
• Bypasses traditional spam filters
• Extremely convincing to humans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Email Detection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686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68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learn patterns from labeled email datasets and classify new emails as phishing or legitimate.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1417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83080"/>
          <a:ext cx="8595360" cy="3017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Simple, interpretable, fast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Baseline classifier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Works well on text data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Probabilistic classification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Resistant to overfitting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Ensemble approach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Effective in high-dim spaces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Margin-based classification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BERT / LSTM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Contextual language understanding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Deep learning (advanced)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choice: Logistic Regression via Scikit-learn (lightweight, fast, interpretable)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What the Model Learns From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686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(Term Frequency – Inverse Document Frequency) is the core method, supplemented by hand-crafted heuristic features.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00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5819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Words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84048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"urgent", "verify now", "immediate action"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00400" y="14173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6002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15819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310128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mismatch, unknown domains, redirect chains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26480" y="14173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6002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75120" y="15819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Mismatch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236208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≠ actual email domain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274320" y="320040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3832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33649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Requests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84048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password, credit card, SSN, payment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3200400" y="320040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338328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49040" y="33649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310128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importance across the phishing corpus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126480" y="320040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38328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75120" y="33649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236208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caps, punctuation density, word count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Art: Detection Approaches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6868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1605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41605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Filters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Gmail, Outlook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Fast, widely deployed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Fails vs AI-crafted phishing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868680"/>
            <a:ext cx="41605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868680"/>
            <a:ext cx="41605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006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Scikit-learn, XGBoost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Good accuracy &amp; speed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0060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Needs fresh training data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41605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17520"/>
            <a:ext cx="416052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BERT, LSTM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Contextual understanding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1148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High compute cost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63440" y="3017520"/>
            <a:ext cx="41605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3017520"/>
            <a:ext cx="41605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0060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Proofpoint, Cisco, Barracuda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0060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 threat intelligence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80060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Expensive, proprietary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choice: ML (Scikit-learn) — best balance of simplicity and effectiveness for academic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pipeline flow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technology stack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sequential pipeline — each stage transforms data and passes it to the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0876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2377440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371600"/>
            <a:ext cx="1508760" cy="2011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37160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2377440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371600"/>
            <a:ext cx="1508760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37160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2377440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371600"/>
            <a:ext cx="1508760" cy="2011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37160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2377440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371600"/>
            <a:ext cx="1508760" cy="20116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37160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email text or uploaded file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tokenize, remove stopwords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+ heuristic flags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/ Ham + key explanations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5 Core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875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1704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raw email text or file uploads. Supports real-world email formats (plain text, HTML).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627632"/>
            <a:ext cx="4572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6276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9222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1673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80160" y="197510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Lowercases text, removes punctuation, eliminates stopwords, applies NLTK tokenization.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2432304"/>
            <a:ext cx="4572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24323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59689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478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80160" y="277977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+ custom heuristic features: urgency words, URL count, sender mismatch flags.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4320" y="3236976"/>
            <a:ext cx="4572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323697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40156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282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280160" y="35844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trained on labeled phishing/ham dataset. Outputs probability scores.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74320" y="4041648"/>
            <a:ext cx="4572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0416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062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80160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280160" y="43891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Phish / Ham label, confidence score, and influencing words for explainability.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6868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11887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6868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72768" y="978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72768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development, rich ML ecosystem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868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68680"/>
            <a:ext cx="11887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86868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61888" y="978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61888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TF-IDF, Naive Bayes, metrics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28600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286000"/>
            <a:ext cx="11887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28600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572768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72768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handling, numerical computation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228600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286000"/>
            <a:ext cx="11887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28600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61888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61888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stopwords, text normalization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37033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703320"/>
            <a:ext cx="11887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70332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572768" y="3813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572768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API + web UI for live demo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37033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3703320"/>
            <a:ext cx="11887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370332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961888" y="3813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961888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accuracy, ROC curve plots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(preprocessing, features, model) is independent and swappable without affecting the rest of the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146304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features, new datasets, or advanced models (BERT, ensemble) can be integrated without redesigning the pipeline.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DB27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4160520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exposes influencing words and confidence scores — helping users understand why an email was classified as phishing.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6052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41605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3611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academic development: lightweight, interpretable, and runnable without GPU or cloud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Flow: End-to-End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0" cy="9144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48640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868680"/>
            <a:ext cx="7818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email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or upload .eml 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0" cy="9144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73352"/>
            <a:ext cx="548640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733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0120" y="1673352"/>
            <a:ext cx="7818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039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→ tokenize → remove stopwords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0" cy="9144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478024"/>
            <a:ext cx="548640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7802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" y="2478024"/>
            <a:ext cx="7818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8437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heuristic flags computed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95928"/>
            <a:ext cx="0" cy="9144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82696"/>
            <a:ext cx="548640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8269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120" y="3282696"/>
            <a:ext cx="7818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346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inference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6484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predicts label + probability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87368"/>
            <a:ext cx="548640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8736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0120" y="4087368"/>
            <a:ext cx="7818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151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453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Phish/Ham label + top influencing words shown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383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deep-dive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Presenters 3 &amp; 4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(Clean Architecture)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phishing_detection/
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
│   ├── core/
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interfaces.py         </a:t>
            </a: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Abstract base classes (IPreprocessor)
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adapters/
│   │   └── preprocessing/
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└── text_cleaner.py   </a:t>
            </a: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NLTKPreprocessor (tokenize, clean)
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domain/
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models.py             </a:t>
            </a: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PredictionResult dataclass
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classifier.py         </a:t>
            </a: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PhishingDetector logic
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main.py                       </a:t>
            </a: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Entry point + train_dummy_model()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Preprocessing: text_cleaner.py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NLTKPreprocessor implements the IPreprocessor interface. The clean() method strips noise so the model only sees meaningful words.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321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NLTKPreprocessor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(IPreprocessor):
</a:t>
            </a: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self.stop_words = set(stopwords.words('english'))
        self.punctuation = set(string.punctuation)
</a:t>
            </a: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text: str) -&gt; str: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 = text.lower()                        </a:t>
            </a: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lowercase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tokens = word_tokenize(text)               </a:t>
            </a: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tokenize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cleaned = [
            word for word in tokens
            if word not in self.punctuation
            and word not in self.stop_words
            and word.isalpha()                     </a:t>
            </a: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letters only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
</a:t>
            </a: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".join(cleaned)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Removes stopwords ('the', 'is', ...), punctuation, and non-alphabetic tokens before vectorization.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Phishing Examples (main.py)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train_dummy_model() function seeds the classifier with labeled examples across multiple phishing categories: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321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PHISHING EXAMPLES ---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 = [
</a:t>
            </a: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Lottery scams
</a:t>
            </a: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"You've won a free iPhone! Click here to claim your prize.",
    "WINNER ANNOUNCEMENT: Your email has won $500,000...",
</a:t>
            </a: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Account / Credential phishing
</a:t>
            </a: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"URGENT: Your PayPal account has been limited. Confirm your details.",
    "Security Alert: Unauthorized login on your Apple ID. Reset now.",
    "Your Netflix subscription suspended. Update payment to continue.",
</a:t>
            </a: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Package / Delivery scams
</a:t>
            </a: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have a pending package delivery. Pay $2.99 shipping fee.",
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
</a:t>
            </a:r>
            <a:r>
              <a:rPr lang="en-US" sz="105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 shown here: Lottery | Credential | Package scams — plus Ham examples for balance.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Model: PredictionResult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dataclass that encapsulates every inference result — label, confidence, and explainability data: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321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PredictionResult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       int          </a:t>
            </a: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0=safe  1=phishing  2=promotional
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  float
    explanations: Dict[str, Any]
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
    def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is_phishing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bool:
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self.label == LABEL_PHISHING
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
    def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label_name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str:
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LABEL_NAMES.get(self.label,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4069080"/>
            <a:ext cx="27889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class (0/1/2)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4069080"/>
            <a:ext cx="27889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0.0–1.0 probability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4069080"/>
            <a:ext cx="27889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with influencing_words key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Influencing Words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prediction, the system extracts the top words that most influenced the decision — making the model interpretable: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321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top 5 most influential words (positive contributions)
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 in top_indices[-5:]:
    if contributions[idx] &gt; 0:
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important_features[self.feature_names[idx]] = float(contributions[idx])
</a:t>
            </a: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top 3 counter-indicators (negative contributions)
</a:t>
            </a:r>
            <a:r>
              <a:rPr lang="en-US" sz="1100" dirty="0">
                <a:solidFill>
                  <a:srgbClr val="A6AC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 in top_indices[:3]:
    if contributions[idx] &lt; 0:
</a:t>
            </a:r>
            <a:r>
              <a:rPr lang="en-US" sz="1100" dirty="0">
                <a:solidFill>
                  <a:srgbClr val="FFC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important_features[self.feature_names[idx]] = float(contributions[idx])
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explanations["influencing_words"] = important_features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74904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contributors 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114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"urgent", "verify", "click", "account", "suspended"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 score toward phishing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74904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Counter-indicators 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4114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"meeting", "project", "regards", "attached"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pull score toward ham (safe)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Classification: Beyond Binary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goes beyond Phish/Ham — it also detects promotional/spam emails as a third class: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640080" cy="10515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490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(Ham)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8562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legitimate email. No suspicious patterns detected. Sender domain matches, no urgency language, no suspicious links.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0" y="16459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"Hi, here are the meeting notes from yesterday."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06040"/>
            <a:ext cx="640080" cy="1051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060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9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3044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email designed to steal credentials or money. Contains urgency, spoofed domains, suspicious requests.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"URGENT: Your account has been compromised. Click now."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94760"/>
            <a:ext cx="64008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3867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4233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email, not malicious but unsolicited. Contains offer language and unsubscribe links.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4023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"Exclusive offer! 50% off today only. Click to shop."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Interface — Live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Flask app exposes the detector via a web UI where users can paste emails and see real-time predictions: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5661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  localhost:5000  —  AI Phishing Detector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email content below: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846320" cy="1371600"/>
          </a:xfrm>
          <a:prstGeom prst="rect">
            <a:avLst/>
          </a:prstGeom>
          <a:solidFill>
            <a:srgbClr val="0D111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URGENT: Your PayPal account has been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limited. Please confirm your details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restore access immediately.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703320"/>
            <a:ext cx="1645920" cy="3840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874520"/>
            <a:ext cx="2560320" cy="22860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PHISHING DETECTED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94.2%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signals: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urgent  (+0.82)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confirm  (+0.71)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limited  (+0.65)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immediately  (+0.58)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Outlook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limitations, future 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open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NLP 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32688" y="1298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NLTK-based preprocessing: lowercase, tokenize, remove stopwords &amp; punctuation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21808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21808" y="1298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but accurate classifier trained on categorized phishing examples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1945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514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Detection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32688" y="26700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binary: Safe · Phishing · Promotional — finer-grained output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1945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25146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21808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21808" y="26700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influencing words &amp; confidence scores for every prediction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5661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8862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32688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32688" y="4041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interfaces, adapters, domain — easy to extend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35661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8862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21808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Interface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21808" y="4041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demo: paste email, get instant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9684"/>
            <a:ext cx="416052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 inference (ms latency)
✔  No GPU required
✔  Interpretable predictions
✔  Modular, extensible design
✔  3-class granularity
✔  Easy to retrain with new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4160520" cy="4114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22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Small training dataset
✘  English-only detection
✘  No email header analysis
✘  Bag-of-words loses context
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Improvements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2296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859536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68680"/>
            <a:ext cx="164592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68680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057400" y="1005840"/>
            <a:ext cx="6675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Integrate real phishing datasets (PhishTank, CEAS)
2. Add URL scanning &amp; domain reputation checks
3. Improve to multi-language support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2286000"/>
            <a:ext cx="164592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286000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057400" y="2423160"/>
            <a:ext cx="6675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Replace TF-IDF with transformer embeddings (DistilBERT)
2. Add email header analysis (SPF, DKIM, DMARC)
3. Active learning — retrain on new phishing patterns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3703320"/>
            <a:ext cx="859536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703320"/>
            <a:ext cx="1645920" cy="126187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3703320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57400" y="3840480"/>
            <a:ext cx="6675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BERT/LLM fine-tuned on phishing data
2. Zero-day phishing detection with anomaly detection
3. Browser extension or email client plugin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640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920240" y="1600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Phishing Detector — Project 13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a modular, explainable phishing detection pipeline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761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3-class classification: Safe · Phishing · Promotional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236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TF-IDF + Logistic Regression + Flask web interface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124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 architecture — ready to extend with BERT or real datasets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2227</Words>
  <Application>Microsoft Office PowerPoint</Application>
  <PresentationFormat>Affichage à l'écran (16:9)</PresentationFormat>
  <Paragraphs>309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Phishing Detector</dc:title>
  <dc:subject>PptxGenJS Presentation</dc:subject>
  <dc:creator>PptxGenJS</dc:creator>
  <cp:lastModifiedBy>jasser sghaier</cp:lastModifiedBy>
  <cp:revision>2</cp:revision>
  <dcterms:created xsi:type="dcterms:W3CDTF">2026-05-03T19:28:25Z</dcterms:created>
  <dcterms:modified xsi:type="dcterms:W3CDTF">2026-05-03T20:00:17Z</dcterms:modified>
</cp:coreProperties>
</file>